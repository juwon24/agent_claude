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7" r:id="rId4"/>
    <p:sldId id="264" r:id="rId5"/>
    <p:sldId id="268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5B5F6-6052-4C2A-8070-EED719D5B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B04746-F515-4E43-9C9A-F6B614B8A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2FA18F-C6E6-4F03-9BB2-5C08B795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19EA60-FA00-47B4-B1E2-8E60C842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2FC904-0302-417B-AD9F-120A596D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9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5FE95-BFE8-4E2D-90C3-4C543EFE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359A0-99E7-4222-859D-994DC2B4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68B17-DB68-468D-AE01-DCF91ABB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86D6FA-5EA5-4D6B-955A-060B4701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9113E-1F9B-4C85-9E69-B5612FEF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7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502F2-595C-4324-893E-23521DB83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D257BF-DE61-4D20-80F5-DF34F7B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AD410-3472-4EED-B177-B206B39D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A2D15-C5AB-4B0A-A1FC-7B1685E7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77D0AB-1A30-4146-8563-DA3F60EF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74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943C4-7AB9-4B6D-97F3-8475D2D5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D72FCE-60E6-4FA4-96CE-D0AFAA2C0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480108-A62C-4400-AA4D-D38F49A0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2DA401-A01F-49AE-9FF4-844A6546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497A78-C2E9-439E-8DC8-B46FFE20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3A22BC-5B29-4574-9B4C-583D100B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20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EF023-0CB7-4288-B391-ED2C0FBB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1088D-120C-4014-B05B-740F4378B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21E8FB-3696-4106-A9CF-198401AF4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F378D8-322D-4F12-8B98-21EE838B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AC57C9-3AB0-4F72-AA3D-8C9776646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C84228-E2E6-48F8-8825-7E215EF1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9A6669-6F0B-45BB-9405-C7D6266F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105EA5-540B-452D-B056-A57D8BA7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42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93BE5-7B5B-4F7E-B1F9-B2007FC4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43BBFA-7C5D-4852-810D-C687AF96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081CC2-21C9-45B7-8389-35A0E140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20FC80-00A3-4DE4-B47B-A13C3E27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71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71A527-3EBE-40B1-B306-02210B1C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B2EEA3-934A-448B-8CC8-EF1BAB84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518F49-1CA2-4841-83B7-68C47D34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72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31467-B85F-4CE0-B80F-C68F0676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F5688-A21F-4FED-A83B-07599DF4A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DFB7F2-9D3A-4A01-B0B3-3D9E54337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1D601-0DED-46DC-A960-4B80DE19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2B6EB2-E734-4EA3-A4DE-426FE4CD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34432A-39C2-49DC-B431-76EA50AC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03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00625-D117-443C-9311-10E83667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C426BF-B397-4D67-ADC3-9EDFC5AFC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B47E-6562-41FE-B5A1-6A202357B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B5B104-559C-4988-8925-733EDBB0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3E7A45-A2A0-4204-A195-CACCDBFD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56A39D-F069-463F-9757-F1CDCFAE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46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AD32B-45FD-4B89-BA39-D21A35B1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4B4273-C876-41E6-9553-DAD3E6E93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A24EF2-8D8A-4AAE-96D9-B4466250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16A89-5EB9-44F6-A2F5-A9F0996A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94FCF-9563-439C-960F-3035E2D6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64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43B8C6-E18E-4EDD-AD0C-BC232D096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19312E-F62E-4412-9622-9CCC66B11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4B0D4-ADEF-4C6C-985A-E40E07C6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F0A2D-724B-413C-AB22-6ADDC4D2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3A26C-B545-4E88-8B41-3D6ED371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7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4A4FC3-EB10-47F2-8065-558F3E0B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8B9EFD-3552-44A1-88E7-1BDFAE49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EA03-499C-4F53-99F3-FC07F765C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3630E-BBCD-4641-B81D-B15E16F5D7F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56B02-6A9C-4502-9360-787173847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0535B-DCAA-4BFF-918F-21ECC4978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5FDB-B326-41D0-A74C-950642C8D4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0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5ED0C1-0578-4FDA-80C7-51C8BC533695}"/>
              </a:ext>
            </a:extLst>
          </p:cNvPr>
          <p:cNvSpPr/>
          <p:nvPr/>
        </p:nvSpPr>
        <p:spPr>
          <a:xfrm>
            <a:off x="2276669" y="1228476"/>
            <a:ext cx="7856376" cy="4292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6207-AF1E-4201-A0CA-7C20075839C2}"/>
              </a:ext>
            </a:extLst>
          </p:cNvPr>
          <p:cNvSpPr txBox="1"/>
          <p:nvPr/>
        </p:nvSpPr>
        <p:spPr>
          <a:xfrm>
            <a:off x="9816122" y="625041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4B935-CDB4-4D3A-8825-F601EBECC2C0}"/>
              </a:ext>
            </a:extLst>
          </p:cNvPr>
          <p:cNvSpPr txBox="1"/>
          <p:nvPr/>
        </p:nvSpPr>
        <p:spPr>
          <a:xfrm>
            <a:off x="5826535" y="2687410"/>
            <a:ext cx="5389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/>
              <a:t>?</a:t>
            </a:r>
            <a:endParaRPr lang="ko-KR" altLang="en-US" sz="6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D3AD7-B65D-4385-91A8-F88C92813A19}"/>
              </a:ext>
            </a:extLst>
          </p:cNvPr>
          <p:cNvSpPr txBox="1"/>
          <p:nvPr/>
        </p:nvSpPr>
        <p:spPr>
          <a:xfrm>
            <a:off x="3606717" y="2007313"/>
            <a:ext cx="603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배경 암석</a:t>
            </a:r>
            <a:r>
              <a:rPr lang="en-US" altLang="ko-KR" dirty="0"/>
              <a:t>: </a:t>
            </a:r>
            <a:r>
              <a:rPr lang="ko-KR" altLang="en-US" dirty="0"/>
              <a:t>사암 </a:t>
            </a:r>
            <a:r>
              <a:rPr lang="en-US" altLang="ko-KR" dirty="0"/>
              <a:t>(</a:t>
            </a:r>
            <a:r>
              <a:rPr lang="ko-KR" altLang="en-US" dirty="0">
                <a:solidFill>
                  <a:srgbClr val="0070C0"/>
                </a:solidFill>
              </a:rPr>
              <a:t>속도 모름</a:t>
            </a:r>
            <a:r>
              <a:rPr lang="en-US" altLang="ko-KR" dirty="0"/>
              <a:t>, </a:t>
            </a:r>
            <a:r>
              <a:rPr lang="ko-KR" altLang="en-US" dirty="0"/>
              <a:t>밀도 </a:t>
            </a:r>
            <a:r>
              <a:rPr lang="en-US" altLang="ko-KR" dirty="0"/>
              <a:t>2000 kg/m3 </a:t>
            </a:r>
            <a:r>
              <a:rPr lang="ko-KR" altLang="en-US" dirty="0"/>
              <a:t>으로 가정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5517521-6A11-4C6B-8554-F58237CFCBC4}"/>
              </a:ext>
            </a:extLst>
          </p:cNvPr>
          <p:cNvCxnSpPr/>
          <p:nvPr/>
        </p:nvCxnSpPr>
        <p:spPr>
          <a:xfrm>
            <a:off x="2276669" y="979452"/>
            <a:ext cx="0" cy="249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CE4C22C-C98C-4D09-A48E-05A573D913C3}"/>
              </a:ext>
            </a:extLst>
          </p:cNvPr>
          <p:cNvCxnSpPr/>
          <p:nvPr/>
        </p:nvCxnSpPr>
        <p:spPr>
          <a:xfrm>
            <a:off x="10133045" y="979452"/>
            <a:ext cx="0" cy="24902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C83BF2-3085-4269-A024-CCD3A5F10097}"/>
              </a:ext>
            </a:extLst>
          </p:cNvPr>
          <p:cNvSpPr txBox="1"/>
          <p:nvPr/>
        </p:nvSpPr>
        <p:spPr>
          <a:xfrm>
            <a:off x="7087313" y="4585585"/>
            <a:ext cx="28280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전기비저항</a:t>
            </a:r>
            <a:r>
              <a:rPr lang="ko-KR" altLang="en-US" sz="1400" dirty="0"/>
              <a:t> 탐사 전극 개수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21</a:t>
            </a:r>
            <a:r>
              <a:rPr lang="ko-KR" altLang="en-US" sz="1400" dirty="0"/>
              <a:t>개</a:t>
            </a:r>
            <a:endParaRPr lang="en-US" altLang="ko-KR" sz="1400" dirty="0"/>
          </a:p>
          <a:p>
            <a:r>
              <a:rPr lang="ko-KR" altLang="en-US" sz="1400" dirty="0"/>
              <a:t>전극 간격</a:t>
            </a:r>
            <a:r>
              <a:rPr lang="en-US" altLang="ko-KR" sz="1400" dirty="0"/>
              <a:t>: 10m / N=10</a:t>
            </a:r>
          </a:p>
          <a:p>
            <a:r>
              <a:rPr lang="ko-KR" altLang="en-US" sz="1400" dirty="0"/>
              <a:t>탐사배열</a:t>
            </a:r>
            <a:r>
              <a:rPr lang="en-US" altLang="ko-KR" sz="1400" dirty="0"/>
              <a:t>: </a:t>
            </a:r>
            <a:r>
              <a:rPr lang="ko-KR" altLang="en-US" sz="1400" dirty="0"/>
              <a:t>쌍극자</a:t>
            </a:r>
            <a:r>
              <a:rPr lang="en-US" altLang="ko-KR" sz="1400" dirty="0"/>
              <a:t>-</a:t>
            </a:r>
            <a:r>
              <a:rPr lang="ko-KR" altLang="en-US" sz="1400" dirty="0"/>
              <a:t>쌍극자 탐사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B41CD-17AC-486C-8318-ABEB8D78D1F1}"/>
              </a:ext>
            </a:extLst>
          </p:cNvPr>
          <p:cNvSpPr txBox="1"/>
          <p:nvPr/>
        </p:nvSpPr>
        <p:spPr>
          <a:xfrm>
            <a:off x="2587291" y="4585585"/>
            <a:ext cx="3065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중력 탐사 </a:t>
            </a:r>
            <a:r>
              <a:rPr lang="ko-KR" altLang="en-US" sz="1400" dirty="0" err="1"/>
              <a:t>측정점</a:t>
            </a:r>
            <a:r>
              <a:rPr lang="ko-KR" altLang="en-US" sz="1400" dirty="0"/>
              <a:t> 수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20</a:t>
            </a:r>
          </a:p>
          <a:p>
            <a:r>
              <a:rPr lang="ko-KR" altLang="en-US" sz="1400" dirty="0" err="1"/>
              <a:t>측정점</a:t>
            </a:r>
            <a:r>
              <a:rPr lang="ko-KR" altLang="en-US" sz="1400" dirty="0"/>
              <a:t> 간격</a:t>
            </a:r>
            <a:r>
              <a:rPr lang="en-US" altLang="ko-KR" sz="1400" dirty="0"/>
              <a:t>: 510m </a:t>
            </a:r>
          </a:p>
          <a:p>
            <a:r>
              <a:rPr lang="ko-KR" altLang="en-US" sz="1400" dirty="0"/>
              <a:t>일변화보정을 위한 </a:t>
            </a:r>
            <a:r>
              <a:rPr lang="ko-KR" altLang="en-US" sz="1400" dirty="0" err="1"/>
              <a:t>보조중력계</a:t>
            </a:r>
            <a:r>
              <a:rPr lang="ko-KR" altLang="en-US" sz="1400" dirty="0"/>
              <a:t> 사용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12FE69-6BB0-4BEA-8EE8-7A1B54B192E2}"/>
              </a:ext>
            </a:extLst>
          </p:cNvPr>
          <p:cNvSpPr txBox="1"/>
          <p:nvPr/>
        </p:nvSpPr>
        <p:spPr>
          <a:xfrm>
            <a:off x="1182595" y="7345"/>
            <a:ext cx="3408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전기비저항</a:t>
            </a:r>
            <a:r>
              <a:rPr lang="ko-KR" altLang="en-US" dirty="0"/>
              <a:t> 탐사 전극 번호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ko-KR" altLang="en-US" dirty="0"/>
              <a:t>중력탐사 </a:t>
            </a:r>
            <a:r>
              <a:rPr lang="ko-KR" altLang="en-US" dirty="0" err="1"/>
              <a:t>측정점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17992-949F-4005-9CE3-380981DBA009}"/>
              </a:ext>
            </a:extLst>
          </p:cNvPr>
          <p:cNvSpPr txBox="1"/>
          <p:nvPr/>
        </p:nvSpPr>
        <p:spPr>
          <a:xfrm>
            <a:off x="2370641" y="5569516"/>
            <a:ext cx="728917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목적</a:t>
            </a:r>
            <a:r>
              <a:rPr lang="en-US" altLang="ko-KR" sz="1400" dirty="0"/>
              <a:t>: 1) </a:t>
            </a:r>
            <a:r>
              <a:rPr lang="ko-KR" altLang="en-US" sz="1400" dirty="0"/>
              <a:t>중력탐사자료를 처리 </a:t>
            </a:r>
            <a:r>
              <a:rPr lang="en-US" altLang="ko-KR" sz="1400" dirty="0"/>
              <a:t>-&gt; </a:t>
            </a:r>
            <a:r>
              <a:rPr lang="ko-KR" altLang="en-US" sz="1400" dirty="0"/>
              <a:t>밀도 모델 추정</a:t>
            </a:r>
            <a:endParaRPr lang="en-US" altLang="ko-KR" sz="1400" dirty="0"/>
          </a:p>
          <a:p>
            <a:r>
              <a:rPr lang="en-US" altLang="ko-KR" sz="1400" dirty="0"/>
              <a:t>        2) </a:t>
            </a:r>
            <a:r>
              <a:rPr lang="ko-KR" altLang="en-US" sz="1400" dirty="0" err="1"/>
              <a:t>전기비저항탐사자료</a:t>
            </a:r>
            <a:r>
              <a:rPr lang="ko-KR" altLang="en-US" sz="1400" dirty="0"/>
              <a:t> 처리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전기비저항</a:t>
            </a:r>
            <a:r>
              <a:rPr lang="ko-KR" altLang="en-US" sz="1400" dirty="0"/>
              <a:t> 모델 추정</a:t>
            </a:r>
            <a:endParaRPr lang="en-US" altLang="ko-KR" sz="1400" dirty="0"/>
          </a:p>
          <a:p>
            <a:r>
              <a:rPr lang="en-US" altLang="ko-KR" sz="1400" dirty="0"/>
              <a:t>        3) </a:t>
            </a:r>
            <a:r>
              <a:rPr lang="ko-KR" altLang="en-US" sz="1400" dirty="0"/>
              <a:t>탄성파 탐사 </a:t>
            </a:r>
            <a:r>
              <a:rPr lang="ko-KR" altLang="en-US" sz="1400" dirty="0" err="1"/>
              <a:t>굴절법</a:t>
            </a:r>
            <a:r>
              <a:rPr lang="ko-KR" altLang="en-US" sz="1400" dirty="0"/>
              <a:t> 해석 </a:t>
            </a:r>
            <a:r>
              <a:rPr lang="en-US" altLang="ko-KR" sz="1400" dirty="0"/>
              <a:t>-&gt; </a:t>
            </a:r>
            <a:r>
              <a:rPr lang="ko-KR" altLang="en-US" sz="1400" dirty="0"/>
              <a:t>탄성파 속도 모델 추정</a:t>
            </a:r>
            <a:endParaRPr lang="en-US" altLang="ko-KR" sz="1400" dirty="0"/>
          </a:p>
          <a:p>
            <a:r>
              <a:rPr lang="en-US" altLang="ko-KR" sz="1400" dirty="0"/>
              <a:t>        4) </a:t>
            </a:r>
            <a:r>
              <a:rPr lang="ko-KR" altLang="en-US" sz="1400" dirty="0"/>
              <a:t>위의 세 가지 추정 모델을 통해 이 지역의 지하 지질구조를 </a:t>
            </a:r>
            <a:r>
              <a:rPr lang="ko-KR" altLang="en-US" sz="1400" dirty="0" err="1"/>
              <a:t>제시하시오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    5) </a:t>
            </a:r>
            <a:r>
              <a:rPr lang="ko-KR" altLang="en-US" sz="1400" dirty="0"/>
              <a:t>중력 모델링</a:t>
            </a:r>
            <a:r>
              <a:rPr lang="en-US" altLang="ko-KR" sz="1400" dirty="0"/>
              <a:t>, </a:t>
            </a:r>
            <a:r>
              <a:rPr lang="ko-KR" altLang="en-US" sz="1400" dirty="0"/>
              <a:t>탄성파 모델링을 이용하여 본인이 제안한 지하 모델을 </a:t>
            </a:r>
            <a:r>
              <a:rPr lang="ko-KR" altLang="en-US" sz="1400" dirty="0" err="1"/>
              <a:t>검증하시오</a:t>
            </a:r>
            <a:r>
              <a:rPr lang="en-US" altLang="ko-KR" sz="1400" dirty="0"/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97182D-ACF2-4825-AFF1-40BBDBCA858A}"/>
              </a:ext>
            </a:extLst>
          </p:cNvPr>
          <p:cNvSpPr/>
          <p:nvPr/>
        </p:nvSpPr>
        <p:spPr>
          <a:xfrm>
            <a:off x="2276669" y="1578682"/>
            <a:ext cx="7856374" cy="39418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3B0FE6-37D1-4270-9B99-8A868B4DEED7}"/>
              </a:ext>
            </a:extLst>
          </p:cNvPr>
          <p:cNvSpPr txBox="1"/>
          <p:nvPr/>
        </p:nvSpPr>
        <p:spPr>
          <a:xfrm>
            <a:off x="5652554" y="1250957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0070C0"/>
                </a:solidFill>
              </a:rPr>
              <a:t>풍화대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(</a:t>
            </a:r>
            <a:r>
              <a:rPr lang="ko-KR" altLang="en-US" dirty="0">
                <a:solidFill>
                  <a:srgbClr val="0070C0"/>
                </a:solidFill>
              </a:rPr>
              <a:t>속도 모름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754E5-EB94-4805-8C27-55978C773FFB}"/>
              </a:ext>
            </a:extLst>
          </p:cNvPr>
          <p:cNvSpPr txBox="1"/>
          <p:nvPr/>
        </p:nvSpPr>
        <p:spPr>
          <a:xfrm>
            <a:off x="10284122" y="1240713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깊이 모름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E4471-AEE4-4448-BD67-C3E6AEB110EF}"/>
              </a:ext>
            </a:extLst>
          </p:cNvPr>
          <p:cNvSpPr txBox="1"/>
          <p:nvPr/>
        </p:nvSpPr>
        <p:spPr>
          <a:xfrm>
            <a:off x="4877723" y="3729870"/>
            <a:ext cx="3203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탄성파 탐사 </a:t>
            </a:r>
            <a:r>
              <a:rPr lang="ko-KR" altLang="en-US" sz="1400" dirty="0" err="1"/>
              <a:t>수진기</a:t>
            </a:r>
            <a:r>
              <a:rPr lang="ko-KR" altLang="en-US" sz="1400" dirty="0"/>
              <a:t> 수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50 (4 m </a:t>
            </a:r>
            <a:r>
              <a:rPr lang="ko-KR" altLang="en-US" sz="1400" dirty="0"/>
              <a:t>간격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 err="1"/>
              <a:t>송신원</a:t>
            </a:r>
            <a:r>
              <a:rPr lang="ko-KR" altLang="en-US" sz="1400" dirty="0"/>
              <a:t> 위치 </a:t>
            </a:r>
            <a:r>
              <a:rPr lang="en-US" altLang="ko-KR" sz="1400" dirty="0"/>
              <a:t>(</a:t>
            </a:r>
            <a:r>
              <a:rPr lang="ko-KR" altLang="en-US" sz="1400" dirty="0"/>
              <a:t>각각 </a:t>
            </a:r>
            <a:r>
              <a:rPr lang="en-US" altLang="ko-KR" sz="1400" dirty="0"/>
              <a:t>25m, 175m)</a:t>
            </a:r>
          </a:p>
        </p:txBody>
      </p:sp>
      <p:sp>
        <p:nvSpPr>
          <p:cNvPr id="3" name="폭발: 8pt 2">
            <a:extLst>
              <a:ext uri="{FF2B5EF4-FFF2-40B4-BE49-F238E27FC236}">
                <a16:creationId xmlns:a16="http://schemas.microsoft.com/office/drawing/2014/main" id="{AA4177DC-AB96-4732-B158-D97EDAB4C90C}"/>
              </a:ext>
            </a:extLst>
          </p:cNvPr>
          <p:cNvSpPr/>
          <p:nvPr/>
        </p:nvSpPr>
        <p:spPr>
          <a:xfrm>
            <a:off x="2715008" y="1111752"/>
            <a:ext cx="343481" cy="278409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폭발: 8pt 18">
            <a:extLst>
              <a:ext uri="{FF2B5EF4-FFF2-40B4-BE49-F238E27FC236}">
                <a16:creationId xmlns:a16="http://schemas.microsoft.com/office/drawing/2014/main" id="{A62E9E73-F60E-42C6-B736-1DF4BEA03477}"/>
              </a:ext>
            </a:extLst>
          </p:cNvPr>
          <p:cNvSpPr/>
          <p:nvPr/>
        </p:nvSpPr>
        <p:spPr>
          <a:xfrm>
            <a:off x="9179485" y="1108383"/>
            <a:ext cx="343481" cy="278409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C541B5-5139-4273-ABFA-E12C3FA6A33C}"/>
              </a:ext>
            </a:extLst>
          </p:cNvPr>
          <p:cNvSpPr txBox="1"/>
          <p:nvPr/>
        </p:nvSpPr>
        <p:spPr>
          <a:xfrm>
            <a:off x="2370641" y="705263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첫번째 발파위치</a:t>
            </a:r>
            <a:r>
              <a:rPr lang="en-US" altLang="ko-KR" dirty="0">
                <a:solidFill>
                  <a:srgbClr val="0070C0"/>
                </a:solidFill>
              </a:rPr>
              <a:t>: 25m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C6352-55D0-4326-9642-E6B812646294}"/>
              </a:ext>
            </a:extLst>
          </p:cNvPr>
          <p:cNvSpPr txBox="1"/>
          <p:nvPr/>
        </p:nvSpPr>
        <p:spPr>
          <a:xfrm>
            <a:off x="7177200" y="72240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두번째 발파위치</a:t>
            </a:r>
            <a:r>
              <a:rPr lang="en-US" altLang="ko-KR" dirty="0">
                <a:solidFill>
                  <a:srgbClr val="0070C0"/>
                </a:solidFill>
              </a:rPr>
              <a:t>: 175m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7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164BBF-72EB-4391-BB9F-BB26CEEA81E3}"/>
              </a:ext>
            </a:extLst>
          </p:cNvPr>
          <p:cNvSpPr txBox="1"/>
          <p:nvPr/>
        </p:nvSpPr>
        <p:spPr>
          <a:xfrm>
            <a:off x="222460" y="15492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중력탐사 자료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C32C78-A518-4249-B2FF-0789F4804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957" y="1441154"/>
            <a:ext cx="6989643" cy="50379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4E5E1-EE31-4AA7-841C-9FD3E39A004A}"/>
              </a:ext>
            </a:extLst>
          </p:cNvPr>
          <p:cNvSpPr txBox="1"/>
          <p:nvPr/>
        </p:nvSpPr>
        <p:spPr>
          <a:xfrm>
            <a:off x="1216375" y="107182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/>
              <a:t>측정점</a:t>
            </a:r>
            <a:r>
              <a:rPr lang="ko-KR" altLang="en-US" dirty="0"/>
              <a:t> 번호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9B3CC4-257C-4915-BD95-3E4B7CE884E0}"/>
              </a:ext>
            </a:extLst>
          </p:cNvPr>
          <p:cNvSpPr txBox="1"/>
          <p:nvPr/>
        </p:nvSpPr>
        <p:spPr>
          <a:xfrm>
            <a:off x="2606914" y="10718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측정위치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3B1F1-DE5C-4F96-B46E-C767388B1157}"/>
              </a:ext>
            </a:extLst>
          </p:cNvPr>
          <p:cNvSpPr txBox="1"/>
          <p:nvPr/>
        </p:nvSpPr>
        <p:spPr>
          <a:xfrm>
            <a:off x="3750620" y="107182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측정한 중력가속도</a:t>
            </a:r>
            <a:r>
              <a:rPr lang="en-US" altLang="ko-KR" dirty="0"/>
              <a:t>(</a:t>
            </a:r>
            <a:r>
              <a:rPr lang="en-US" altLang="ko-KR" dirty="0" err="1"/>
              <a:t>mgal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1E4AD5-11F0-481B-98A9-00D70764F798}"/>
              </a:ext>
            </a:extLst>
          </p:cNvPr>
          <p:cNvSpPr txBox="1"/>
          <p:nvPr/>
        </p:nvSpPr>
        <p:spPr>
          <a:xfrm>
            <a:off x="6524136" y="107182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고도</a:t>
            </a:r>
            <a:r>
              <a:rPr lang="en-US" altLang="ko-KR" dirty="0"/>
              <a:t>(m)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EFBCE-4491-4F7A-BC9B-7BFFB197BD39}"/>
              </a:ext>
            </a:extLst>
          </p:cNvPr>
          <p:cNvSpPr txBox="1"/>
          <p:nvPr/>
        </p:nvSpPr>
        <p:spPr>
          <a:xfrm>
            <a:off x="7619887" y="1071822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보조중력계</a:t>
            </a:r>
            <a:r>
              <a:rPr lang="ko-KR" altLang="en-US" dirty="0"/>
              <a:t> 중력가속도</a:t>
            </a:r>
            <a:r>
              <a:rPr lang="en-US" altLang="ko-KR" dirty="0"/>
              <a:t>(</a:t>
            </a:r>
            <a:r>
              <a:rPr lang="en-US" altLang="ko-KR" dirty="0" err="1"/>
              <a:t>mgal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3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164BBF-72EB-4391-BB9F-BB26CEEA81E3}"/>
              </a:ext>
            </a:extLst>
          </p:cNvPr>
          <p:cNvSpPr txBox="1"/>
          <p:nvPr/>
        </p:nvSpPr>
        <p:spPr>
          <a:xfrm>
            <a:off x="222460" y="15492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전기비저항탐사</a:t>
            </a:r>
            <a:r>
              <a:rPr lang="ko-KR" altLang="en-US" dirty="0"/>
              <a:t> 자료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D71B2E-739D-4DB5-8C15-577ABEE8A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8043"/>
            <a:ext cx="12192000" cy="24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0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164BBF-72EB-4391-BB9F-BB26CEEA81E3}"/>
              </a:ext>
            </a:extLst>
          </p:cNvPr>
          <p:cNvSpPr txBox="1"/>
          <p:nvPr/>
        </p:nvSpPr>
        <p:spPr>
          <a:xfrm>
            <a:off x="222460" y="154922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탄성파 탐사 자료</a:t>
            </a:r>
            <a:r>
              <a:rPr lang="en-US" altLang="ko-KR" dirty="0"/>
              <a:t>(</a:t>
            </a:r>
            <a:r>
              <a:rPr lang="ko-KR" altLang="en-US" dirty="0"/>
              <a:t>왼쪽 발파</a:t>
            </a:r>
            <a:r>
              <a:rPr lang="en-US" altLang="ko-KR" dirty="0"/>
              <a:t>: 25m </a:t>
            </a:r>
            <a:r>
              <a:rPr lang="ko-KR" altLang="en-US" dirty="0"/>
              <a:t>위치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DE7A6-D5F2-4350-AE2C-D58D3005D42F}"/>
              </a:ext>
            </a:extLst>
          </p:cNvPr>
          <p:cNvSpPr txBox="1"/>
          <p:nvPr/>
        </p:nvSpPr>
        <p:spPr>
          <a:xfrm>
            <a:off x="0" y="6105437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시간</a:t>
            </a:r>
            <a:r>
              <a:rPr lang="en-US" altLang="ko-KR" dirty="0"/>
              <a:t>: 0.2</a:t>
            </a:r>
            <a:r>
              <a:rPr lang="ko-KR" altLang="en-US" dirty="0"/>
              <a:t>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91B38-A521-48DB-9A04-6639213DD861}"/>
              </a:ext>
            </a:extLst>
          </p:cNvPr>
          <p:cNvSpPr txBox="1"/>
          <p:nvPr/>
        </p:nvSpPr>
        <p:spPr>
          <a:xfrm>
            <a:off x="5766788" y="269077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거리</a:t>
            </a:r>
            <a:r>
              <a:rPr lang="en-US" altLang="ko-KR" dirty="0"/>
              <a:t>: 200m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0B397E-2E3E-46B4-95ED-61E8E2B13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7" y="752563"/>
            <a:ext cx="10693400" cy="535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4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164BBF-72EB-4391-BB9F-BB26CEEA81E3}"/>
              </a:ext>
            </a:extLst>
          </p:cNvPr>
          <p:cNvSpPr txBox="1"/>
          <p:nvPr/>
        </p:nvSpPr>
        <p:spPr>
          <a:xfrm>
            <a:off x="222460" y="154922"/>
            <a:ext cx="460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탄성파 탐사 자료</a:t>
            </a:r>
            <a:r>
              <a:rPr lang="en-US" altLang="ko-KR" dirty="0"/>
              <a:t>(</a:t>
            </a:r>
            <a:r>
              <a:rPr lang="ko-KR" altLang="en-US" dirty="0"/>
              <a:t>오른쪽 발파</a:t>
            </a:r>
            <a:r>
              <a:rPr lang="en-US" altLang="ko-KR" dirty="0"/>
              <a:t>: 175m </a:t>
            </a:r>
            <a:r>
              <a:rPr lang="ko-KR" altLang="en-US" dirty="0"/>
              <a:t>위치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DE7A6-D5F2-4350-AE2C-D58D3005D42F}"/>
              </a:ext>
            </a:extLst>
          </p:cNvPr>
          <p:cNvSpPr txBox="1"/>
          <p:nvPr/>
        </p:nvSpPr>
        <p:spPr>
          <a:xfrm>
            <a:off x="0" y="6105437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시간</a:t>
            </a:r>
            <a:r>
              <a:rPr lang="en-US" altLang="ko-KR" dirty="0"/>
              <a:t>: 0.2</a:t>
            </a:r>
            <a:r>
              <a:rPr lang="ko-KR" altLang="en-US" dirty="0"/>
              <a:t>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91B38-A521-48DB-9A04-6639213DD861}"/>
              </a:ext>
            </a:extLst>
          </p:cNvPr>
          <p:cNvSpPr txBox="1"/>
          <p:nvPr/>
        </p:nvSpPr>
        <p:spPr>
          <a:xfrm>
            <a:off x="5766788" y="269077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거리</a:t>
            </a:r>
            <a:r>
              <a:rPr lang="en-US" altLang="ko-KR" dirty="0"/>
              <a:t>: 200m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F2E205-2B1E-4800-99D3-9073DF2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7" y="752563"/>
            <a:ext cx="10693400" cy="54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DBD9458-E185-44D2-AD96-1E5A34FD416E}"/>
              </a:ext>
            </a:extLst>
          </p:cNvPr>
          <p:cNvSpPr txBox="1"/>
          <p:nvPr/>
        </p:nvSpPr>
        <p:spPr>
          <a:xfrm>
            <a:off x="2029249" y="2414960"/>
            <a:ext cx="7563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제출 자료</a:t>
            </a:r>
            <a:endParaRPr lang="en-US" altLang="ko-KR" sz="2000" dirty="0"/>
          </a:p>
          <a:p>
            <a:r>
              <a:rPr lang="en-US" altLang="ko-KR" sz="2000" dirty="0"/>
              <a:t>        1) </a:t>
            </a:r>
            <a:r>
              <a:rPr lang="ko-KR" altLang="en-US" sz="2000" dirty="0"/>
              <a:t>위의 내용을 정리한 최종 </a:t>
            </a:r>
            <a:r>
              <a:rPr lang="ko-KR" altLang="en-US" sz="2000" dirty="0" err="1"/>
              <a:t>기말레포트</a:t>
            </a:r>
            <a:endParaRPr lang="en-US" altLang="ko-KR" sz="2000" dirty="0"/>
          </a:p>
          <a:p>
            <a:r>
              <a:rPr lang="en-US" altLang="ko-KR" sz="2000" dirty="0"/>
              <a:t>        2) </a:t>
            </a:r>
            <a:r>
              <a:rPr lang="ko-KR" altLang="en-US" sz="2000" dirty="0"/>
              <a:t>발표자료 </a:t>
            </a:r>
            <a:r>
              <a:rPr lang="en-US" altLang="ko-KR" sz="2000" dirty="0"/>
              <a:t>PPT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6ABD1-FD32-4852-92DA-1C748F3E0FD5}"/>
              </a:ext>
            </a:extLst>
          </p:cNvPr>
          <p:cNvSpPr txBox="1"/>
          <p:nvPr/>
        </p:nvSpPr>
        <p:spPr>
          <a:xfrm>
            <a:off x="1347896" y="233558"/>
            <a:ext cx="93426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목적</a:t>
            </a:r>
            <a:r>
              <a:rPr lang="en-US" altLang="ko-KR" dirty="0"/>
              <a:t>: 1) </a:t>
            </a:r>
            <a:r>
              <a:rPr lang="ko-KR" altLang="en-US" dirty="0"/>
              <a:t>중력탐사자료를 처리 </a:t>
            </a:r>
            <a:r>
              <a:rPr lang="en-US" altLang="ko-KR" dirty="0"/>
              <a:t>-&gt; </a:t>
            </a:r>
            <a:r>
              <a:rPr lang="ko-KR" altLang="en-US" dirty="0"/>
              <a:t>밀도 모델 추정</a:t>
            </a:r>
            <a:endParaRPr lang="en-US" altLang="ko-KR" dirty="0"/>
          </a:p>
          <a:p>
            <a:r>
              <a:rPr lang="en-US" altLang="ko-KR" dirty="0"/>
              <a:t>        2) </a:t>
            </a:r>
            <a:r>
              <a:rPr lang="ko-KR" altLang="en-US" dirty="0" err="1"/>
              <a:t>전기비저항탐사자료</a:t>
            </a:r>
            <a:r>
              <a:rPr lang="ko-KR" altLang="en-US" dirty="0"/>
              <a:t> 처리 </a:t>
            </a:r>
            <a:r>
              <a:rPr lang="en-US" altLang="ko-KR" dirty="0"/>
              <a:t>-&gt; </a:t>
            </a:r>
            <a:r>
              <a:rPr lang="ko-KR" altLang="en-US" dirty="0" err="1"/>
              <a:t>전기비저항</a:t>
            </a:r>
            <a:r>
              <a:rPr lang="ko-KR" altLang="en-US" dirty="0"/>
              <a:t> 모델 추정</a:t>
            </a:r>
            <a:endParaRPr lang="en-US" altLang="ko-KR" dirty="0"/>
          </a:p>
          <a:p>
            <a:r>
              <a:rPr lang="en-US" altLang="ko-KR" dirty="0"/>
              <a:t>        3) </a:t>
            </a:r>
            <a:r>
              <a:rPr lang="ko-KR" altLang="en-US" dirty="0"/>
              <a:t>탄성파 탐사 </a:t>
            </a:r>
            <a:r>
              <a:rPr lang="ko-KR" altLang="en-US" dirty="0" err="1"/>
              <a:t>굴절법</a:t>
            </a:r>
            <a:r>
              <a:rPr lang="ko-KR" altLang="en-US" dirty="0"/>
              <a:t> 해석 </a:t>
            </a:r>
            <a:r>
              <a:rPr lang="en-US" altLang="ko-KR" dirty="0"/>
              <a:t>-&gt; </a:t>
            </a:r>
            <a:r>
              <a:rPr lang="ko-KR" altLang="en-US" dirty="0"/>
              <a:t>탄성파 속도 모델 추정</a:t>
            </a:r>
            <a:endParaRPr lang="en-US" altLang="ko-KR" dirty="0"/>
          </a:p>
          <a:p>
            <a:r>
              <a:rPr lang="en-US" altLang="ko-KR" dirty="0"/>
              <a:t>        4) </a:t>
            </a:r>
            <a:r>
              <a:rPr lang="ko-KR" altLang="en-US" dirty="0"/>
              <a:t>위의 세 가지 추정 모델을 통해 이 지역의 지하 지질구조를 </a:t>
            </a:r>
            <a:r>
              <a:rPr lang="ko-KR" altLang="en-US" dirty="0" err="1"/>
              <a:t>제시하시오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  5) </a:t>
            </a:r>
            <a:r>
              <a:rPr lang="ko-KR" altLang="en-US" dirty="0"/>
              <a:t>중력 모델링</a:t>
            </a:r>
            <a:r>
              <a:rPr lang="en-US" altLang="ko-KR" dirty="0"/>
              <a:t>, </a:t>
            </a:r>
            <a:r>
              <a:rPr lang="ko-KR" altLang="en-US" dirty="0"/>
              <a:t>탄성파 모델링을 이용하여 본인이 제안한 지하 모델을 </a:t>
            </a:r>
            <a:r>
              <a:rPr lang="ko-KR" altLang="en-US" dirty="0" err="1"/>
              <a:t>검증하시오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  6) </a:t>
            </a:r>
            <a:r>
              <a:rPr lang="ko-KR" altLang="en-US" dirty="0"/>
              <a:t>연구 과정에서 흥미로운 경험에 대해 자유롭게 논의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5085B-6CC7-44DA-9909-52F63A47CCEE}"/>
              </a:ext>
            </a:extLst>
          </p:cNvPr>
          <p:cNvSpPr txBox="1"/>
          <p:nvPr/>
        </p:nvSpPr>
        <p:spPr>
          <a:xfrm>
            <a:off x="2029249" y="3967766"/>
            <a:ext cx="7563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기말 프로젝트</a:t>
            </a:r>
            <a:endParaRPr lang="en-US" altLang="ko-KR" sz="2000" dirty="0"/>
          </a:p>
          <a:p>
            <a:r>
              <a:rPr lang="en-US" altLang="ko-KR" sz="2000" dirty="0">
                <a:solidFill>
                  <a:srgbClr val="FF0000"/>
                </a:solidFill>
              </a:rPr>
              <a:t>        1) </a:t>
            </a:r>
            <a:r>
              <a:rPr lang="ko-KR" altLang="en-US" sz="2000" dirty="0">
                <a:solidFill>
                  <a:srgbClr val="FF0000"/>
                </a:solidFill>
              </a:rPr>
              <a:t>기말발표</a:t>
            </a:r>
            <a:r>
              <a:rPr lang="en-US" altLang="ko-KR" sz="2000" dirty="0">
                <a:solidFill>
                  <a:srgbClr val="FF0000"/>
                </a:solidFill>
              </a:rPr>
              <a:t>: 12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2</a:t>
            </a:r>
            <a:r>
              <a:rPr lang="ko-KR" altLang="en-US" sz="2000" dirty="0">
                <a:solidFill>
                  <a:srgbClr val="FF0000"/>
                </a:solidFill>
              </a:rPr>
              <a:t>일 </a:t>
            </a:r>
            <a:r>
              <a:rPr lang="en-US" altLang="ko-KR" sz="2000" dirty="0">
                <a:solidFill>
                  <a:srgbClr val="FF0000"/>
                </a:solidFill>
              </a:rPr>
              <a:t>(5</a:t>
            </a:r>
            <a:r>
              <a:rPr lang="ko-KR" altLang="en-US" sz="2000" dirty="0">
                <a:solidFill>
                  <a:srgbClr val="FF0000"/>
                </a:solidFill>
              </a:rPr>
              <a:t>분 정도로 준비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        2) </a:t>
            </a:r>
            <a:r>
              <a:rPr lang="ko-KR" altLang="en-US" sz="2000" dirty="0" err="1">
                <a:solidFill>
                  <a:srgbClr val="FF0000"/>
                </a:solidFill>
              </a:rPr>
              <a:t>기말레포트</a:t>
            </a:r>
            <a:r>
              <a:rPr lang="en-US" altLang="ko-KR" sz="2000" dirty="0">
                <a:solidFill>
                  <a:srgbClr val="FF0000"/>
                </a:solidFill>
              </a:rPr>
              <a:t>: 12</a:t>
            </a:r>
            <a:r>
              <a:rPr lang="ko-KR" altLang="en-US" sz="2000" dirty="0">
                <a:solidFill>
                  <a:srgbClr val="FF0000"/>
                </a:solidFill>
              </a:rPr>
              <a:t>월 </a:t>
            </a:r>
            <a:r>
              <a:rPr lang="en-US" altLang="ko-KR" sz="2000" dirty="0">
                <a:solidFill>
                  <a:srgbClr val="FF0000"/>
                </a:solidFill>
              </a:rPr>
              <a:t>5</a:t>
            </a:r>
            <a:r>
              <a:rPr lang="ko-KR" altLang="en-US" sz="2000" dirty="0">
                <a:solidFill>
                  <a:srgbClr val="FF0000"/>
                </a:solidFill>
              </a:rPr>
              <a:t>일까지 제출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금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387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329</Words>
  <Application>Microsoft Office PowerPoint</Application>
  <PresentationFormat>와이드스크린</PresentationFormat>
  <Paragraphs>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 주원</dc:creator>
  <cp:lastModifiedBy>OHJUWON</cp:lastModifiedBy>
  <cp:revision>19</cp:revision>
  <dcterms:created xsi:type="dcterms:W3CDTF">2020-05-04T01:48:35Z</dcterms:created>
  <dcterms:modified xsi:type="dcterms:W3CDTF">2025-11-13T06:47:21Z</dcterms:modified>
</cp:coreProperties>
</file>